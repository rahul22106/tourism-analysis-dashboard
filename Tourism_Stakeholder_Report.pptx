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27B-44CE-B629-BF0AA28E4CB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27B-44CE-B629-BF0AA28E4CB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27B-44CE-B629-BF0AA28E4CB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27B-44CE-B629-BF0AA28E4CB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27B-44CE-B629-BF0AA28E4CB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27B-44CE-B629-BF0AA28E4CB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27B-44CE-B629-BF0AA28E4CB8}"/>
              </c:ext>
            </c:extLst>
          </c:dPt>
          <c:dPt>
            <c:idx val="7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27B-44CE-B629-BF0AA28E4CB8}"/>
              </c:ext>
            </c:extLst>
          </c:dPt>
          <c:dPt>
            <c:idx val="8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27B-44CE-B629-BF0AA28E4CB8}"/>
              </c:ext>
            </c:extLst>
          </c:dPt>
          <c:dPt>
            <c:idx val="9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327B-44CE-B629-BF0AA28E4CB8}"/>
              </c:ext>
            </c:extLst>
          </c:dPt>
          <c:cat>
            <c:strRef>
              <c:f>Sheet1!$A$2:$A$11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2983</c:v>
                </c:pt>
                <c:pt idx="1">
                  <c:v>4808</c:v>
                </c:pt>
                <c:pt idx="2">
                  <c:v>8687</c:v>
                </c:pt>
                <c:pt idx="3">
                  <c:v>12823</c:v>
                </c:pt>
                <c:pt idx="4">
                  <c:v>9444</c:v>
                </c:pt>
                <c:pt idx="5">
                  <c:v>7461</c:v>
                </c:pt>
                <c:pt idx="6">
                  <c:v>5913</c:v>
                </c:pt>
                <c:pt idx="7">
                  <c:v>529</c:v>
                </c:pt>
                <c:pt idx="8">
                  <c:v>35</c:v>
                </c:pt>
                <c:pt idx="9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327B-44CE-B629-BF0AA28E4C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03E-4120-95AE-236A1ED0A1F1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3E-4120-95AE-236A1ED0A1F1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3E-4120-95AE-236A1ED0A1F1}"/>
              </c:ext>
            </c:extLst>
          </c:dPt>
          <c:dPt>
            <c:idx val="3"/>
            <c:invertIfNegative val="0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3E-4120-95AE-236A1ED0A1F1}"/>
              </c:ext>
            </c:extLst>
          </c:dPt>
          <c:dPt>
            <c:idx val="4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3E-4120-95AE-236A1ED0A1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Asia</c:v>
                </c:pt>
                <c:pt idx="1">
                  <c:v>Australia &amp; Oceania</c:v>
                </c:pt>
                <c:pt idx="2">
                  <c:v>Europe</c:v>
                </c:pt>
                <c:pt idx="3">
                  <c:v>America</c:v>
                </c:pt>
                <c:pt idx="4">
                  <c:v>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15693</c:v>
                </c:pt>
                <c:pt idx="1">
                  <c:v>14852</c:v>
                </c:pt>
                <c:pt idx="2">
                  <c:v>13278</c:v>
                </c:pt>
                <c:pt idx="3">
                  <c:v>8187</c:v>
                </c:pt>
                <c:pt idx="4">
                  <c:v>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3E-4120-95AE-236A1ED0A1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C97-4242-8613-355F97D11456}"/>
              </c:ext>
            </c:extLst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C97-4242-8613-355F97D11456}"/>
              </c:ext>
            </c:extLst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C97-4242-8613-355F97D11456}"/>
              </c:ext>
            </c:extLst>
          </c:dPt>
          <c:dPt>
            <c:idx val="3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C97-4242-8613-355F97D11456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C97-4242-8613-355F97D1145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97-4242-8613-355F97D1145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C97-4242-8613-355F97D1145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C97-4242-8613-355F97D11456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C97-4242-8613-355F97D11456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C97-4242-8613-355F97D114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Couples</c:v>
                </c:pt>
                <c:pt idx="1">
                  <c:v>Family</c:v>
                </c:pt>
                <c:pt idx="2">
                  <c:v>Friends</c:v>
                </c:pt>
                <c:pt idx="3">
                  <c:v>Solo</c:v>
                </c:pt>
                <c:pt idx="4">
                  <c:v>Business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21620</c:v>
                </c:pt>
                <c:pt idx="1">
                  <c:v>15217</c:v>
                </c:pt>
                <c:pt idx="2">
                  <c:v>10945</c:v>
                </c:pt>
                <c:pt idx="3">
                  <c:v>4525</c:v>
                </c:pt>
                <c:pt idx="4">
                  <c:v>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C97-4242-8613-355F97D11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Kuta Beach</c:v>
                </c:pt>
                <c:pt idx="1">
                  <c:v>Tegenungan Wtfl</c:v>
                </c:pt>
                <c:pt idx="2">
                  <c:v>Merapi Volcano</c:v>
                </c:pt>
                <c:pt idx="3">
                  <c:v>Seminyak Beach</c:v>
                </c:pt>
                <c:pt idx="4">
                  <c:v>Sanur Beach</c:v>
                </c:pt>
                <c:pt idx="5">
                  <c:v>Tanah Lot Temple</c:v>
                </c:pt>
                <c:pt idx="6">
                  <c:v>Uluwatu Temple</c:v>
                </c:pt>
                <c:pt idx="7">
                  <c:v>Tegalalang Rice</c:v>
                </c:pt>
                <c:pt idx="8">
                  <c:v>Waterbom Bali</c:v>
                </c:pt>
                <c:pt idx="9">
                  <c:v>Monkey Forest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2765</c:v>
                </c:pt>
                <c:pt idx="1">
                  <c:v>2190</c:v>
                </c:pt>
                <c:pt idx="2">
                  <c:v>2235</c:v>
                </c:pt>
                <c:pt idx="3">
                  <c:v>2914</c:v>
                </c:pt>
                <c:pt idx="4">
                  <c:v>3044</c:v>
                </c:pt>
                <c:pt idx="5">
                  <c:v>3352</c:v>
                </c:pt>
                <c:pt idx="6">
                  <c:v>3359</c:v>
                </c:pt>
                <c:pt idx="7">
                  <c:v>5815</c:v>
                </c:pt>
                <c:pt idx="8">
                  <c:v>6429</c:v>
                </c:pt>
                <c:pt idx="9">
                  <c:v>13198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CE-4779-9C36-E6EF0729AE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Historic Sites</c:v>
                </c:pt>
                <c:pt idx="1">
                  <c:v>Flea Markets</c:v>
                </c:pt>
                <c:pt idx="2">
                  <c:v>Waterfalls</c:v>
                </c:pt>
                <c:pt idx="3">
                  <c:v>Volcanos</c:v>
                </c:pt>
                <c:pt idx="4">
                  <c:v>Landmarks</c:v>
                </c:pt>
                <c:pt idx="5">
                  <c:v>Water Parks</c:v>
                </c:pt>
                <c:pt idx="6">
                  <c:v>Religious</c:v>
                </c:pt>
                <c:pt idx="7">
                  <c:v>Beaches</c:v>
                </c:pt>
                <c:pt idx="8">
                  <c:v>Nature &amp; Wildlife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798</c:v>
                </c:pt>
                <c:pt idx="1">
                  <c:v>1324</c:v>
                </c:pt>
                <c:pt idx="2">
                  <c:v>2245</c:v>
                </c:pt>
                <c:pt idx="3">
                  <c:v>2318</c:v>
                </c:pt>
                <c:pt idx="4">
                  <c:v>6252</c:v>
                </c:pt>
                <c:pt idx="5">
                  <c:v>6429</c:v>
                </c:pt>
                <c:pt idx="6">
                  <c:v>6711</c:v>
                </c:pt>
                <c:pt idx="7">
                  <c:v>10917</c:v>
                </c:pt>
                <c:pt idx="8">
                  <c:v>13251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75-414D-A274-D4A016E199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Yearly Visits</c:v>
                </c:pt>
              </c:strCache>
            </c:strRef>
          </c:tx>
          <c:spPr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2C39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2983</c:v>
                </c:pt>
                <c:pt idx="1">
                  <c:v>4808</c:v>
                </c:pt>
                <c:pt idx="2">
                  <c:v>8687</c:v>
                </c:pt>
                <c:pt idx="3">
                  <c:v>12823</c:v>
                </c:pt>
                <c:pt idx="4">
                  <c:v>9444</c:v>
                </c:pt>
                <c:pt idx="5">
                  <c:v>7461</c:v>
                </c:pt>
                <c:pt idx="6">
                  <c:v>5913</c:v>
                </c:pt>
                <c:pt idx="7">
                  <c:v>529</c:v>
                </c:pt>
                <c:pt idx="8">
                  <c:v>35</c:v>
                </c:pt>
                <c:pt idx="9">
                  <c:v>247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A4-4816-8097-1E10191882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7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BA7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F3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D4F-41DF-95E2-D12615B10240}"/>
              </c:ext>
            </c:extLst>
          </c:dPt>
          <c:dPt>
            <c:idx val="1"/>
            <c:invertIfNegative val="0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4F-41DF-95E2-D12615B10240}"/>
              </c:ext>
            </c:extLst>
          </c:dPt>
          <c:dPt>
            <c:idx val="2"/>
            <c:invertIfNegative val="0"/>
            <c:bubble3D val="0"/>
            <c:spPr>
              <a:solidFill>
                <a:srgbClr val="F1C4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4F-41DF-95E2-D12615B10240}"/>
              </c:ext>
            </c:extLst>
          </c:dPt>
          <c:dPt>
            <c:idx val="3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D4F-41DF-95E2-D12615B10240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D4F-41DF-95E2-D12615B1024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1★</c:v>
                </c:pt>
                <c:pt idx="1">
                  <c:v>2★</c:v>
                </c:pt>
                <c:pt idx="2">
                  <c:v>3★</c:v>
                </c:pt>
                <c:pt idx="3">
                  <c:v>4★</c:v>
                </c:pt>
                <c:pt idx="4">
                  <c:v>5★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1263</c:v>
                </c:pt>
                <c:pt idx="1">
                  <c:v>2035</c:v>
                </c:pt>
                <c:pt idx="2">
                  <c:v>7730</c:v>
                </c:pt>
                <c:pt idx="3">
                  <c:v>17966</c:v>
                </c:pt>
                <c:pt idx="4">
                  <c:v>23936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D4F-41DF-95E2-D12615B102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Historic Sites</c:v>
                </c:pt>
                <c:pt idx="1">
                  <c:v>Beaches</c:v>
                </c:pt>
                <c:pt idx="2">
                  <c:v>Flea Markets</c:v>
                </c:pt>
                <c:pt idx="3">
                  <c:v>Waterfalls</c:v>
                </c:pt>
                <c:pt idx="4">
                  <c:v>Ancient Ruins</c:v>
                </c:pt>
                <c:pt idx="5">
                  <c:v>Volcanos</c:v>
                </c:pt>
                <c:pt idx="6">
                  <c:v>Religious Sites</c:v>
                </c:pt>
                <c:pt idx="7">
                  <c:v>National Parks</c:v>
                </c:pt>
                <c:pt idx="8">
                  <c:v>Caverns</c:v>
                </c:pt>
                <c:pt idx="9">
                  <c:v>Spas</c:v>
                </c:pt>
                <c:pt idx="10">
                  <c:v>Water Parks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3.54</c:v>
                </c:pt>
                <c:pt idx="1">
                  <c:v>3.85</c:v>
                </c:pt>
                <c:pt idx="2">
                  <c:v>3.87</c:v>
                </c:pt>
                <c:pt idx="3">
                  <c:v>3.9</c:v>
                </c:pt>
                <c:pt idx="4">
                  <c:v>4.0599999999999996</c:v>
                </c:pt>
                <c:pt idx="5">
                  <c:v>4.0999999999999996</c:v>
                </c:pt>
                <c:pt idx="6">
                  <c:v>4.21</c:v>
                </c:pt>
                <c:pt idx="7">
                  <c:v>4.42</c:v>
                </c:pt>
                <c:pt idx="8">
                  <c:v>4.5</c:v>
                </c:pt>
                <c:pt idx="9">
                  <c:v>4.57</c:v>
                </c:pt>
                <c:pt idx="10">
                  <c:v>4.6500000000000004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78-4F32-93A4-A88BCCD15C5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B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95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2560320" cy="2560320"/>
          </a:xfrm>
          <a:prstGeom prst="ellipse">
            <a:avLst/>
          </a:prstGeom>
          <a:solidFill>
            <a:srgbClr val="065A82">
              <a:alpha val="4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66560" y="1097280"/>
            <a:ext cx="1463040" cy="1463040"/>
          </a:xfrm>
          <a:prstGeom prst="ellipse">
            <a:avLst/>
          </a:prstGeom>
          <a:solidFill>
            <a:srgbClr val="1C7293">
              <a:alpha val="6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0" y="118872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🌍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TOURISM ANALYSIS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</a:rPr>
              <a:t>End-to-End Data Analytics Project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53K+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Total Visits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0604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4.16★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2013–22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Period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03720" y="3108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</a:rPr>
              <a:t>30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0372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Attractions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TOURISM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778240" y="0"/>
            <a:ext cx="36576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342"/>
                </a:solidFill>
              </a:rPr>
              <a:t>Tourism Collapsed — How Do We Recover?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96% Drop in 2020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From 5,913 visits in 2019 to just 529 in 2020 — COVID devastated tourism completely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😴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3756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Slow Recovery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697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2021 saw only 35 visits and 2022 only 247 — far below pre-COVID levels despite reopening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2402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Concentrated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697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1 attraction (Sacred Monkey Forest) drives 25% of all visits — high dependency risk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Annual Visit Trend — The COVID Collapse</a:t>
            </a:r>
            <a:endParaRPr lang="en-US" sz="13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4617720"/>
          <a:ext cx="8412480" cy="41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PERFORMANCE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78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2C39A"/>
                </a:solidFill>
              </a:rPr>
              <a:t>52,930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Total Visits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2013–2022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10128" y="978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10128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A623"/>
                </a:solidFill>
              </a:rPr>
              <a:t>33,530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10128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Unique Visitors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Individual travelers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25896" y="86868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F1C40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9784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63056" y="1417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C40F"/>
                </a:solidFill>
              </a:rPr>
              <a:t>4.16 / 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63056" y="1947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Satisfaction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2240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Across all visits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44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</a:rPr>
              <a:t>10,618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Repeat Visitors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31.7% return 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283464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2944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310128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</a:rPr>
              <a:t>12,823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310128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Peak Year Visits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2016 — all time 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25896" y="2834640"/>
            <a:ext cx="2651760" cy="1737360"/>
          </a:xfrm>
          <a:prstGeom prst="rect">
            <a:avLst/>
          </a:prstGeom>
          <a:solidFill>
            <a:srgbClr val="0D2137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63056" y="29443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💚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63056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7AE60"/>
                </a:solidFill>
              </a:rPr>
              <a:t>79.1%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63056" y="3913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Positive Ratings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63056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BA7C4"/>
                </a:solidFill>
              </a:rPr>
              <a:t>4 or 5 star ratings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VISITOR ANALYSIS — Who Is Traveling?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Visitor Origin by Continent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804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Top 5 Origin Countries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937760" y="11887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Australia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1463040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463040"/>
            <a:ext cx="347472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58200" y="11887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13,322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937760" y="1664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United Kingdom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1938528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938528"/>
            <a:ext cx="173736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16642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6,722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937760" y="21396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United States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37760" y="2414016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2414016"/>
            <a:ext cx="1633118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58200" y="21396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6,261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37760" y="2615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Indonesia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937760" y="2889504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2889504"/>
            <a:ext cx="1250899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58200" y="261518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4,842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37760" y="3090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</a:rPr>
              <a:t>Singapore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3364992"/>
            <a:ext cx="347472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937760" y="3364992"/>
            <a:ext cx="729691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58200" y="309067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2,807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3749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Travel Mode Split</a:t>
            </a:r>
            <a:endParaRPr lang="en-US" sz="1300" dirty="0"/>
          </a:p>
        </p:txBody>
      </p:sp>
      <p:graphicFrame>
        <p:nvGraphicFramePr>
          <p:cNvPr id="28" name="Chart 1"/>
          <p:cNvGraphicFramePr/>
          <p:nvPr>
            <p:extLst>
              <p:ext uri="{D42A27DB-BD31-4B8C-83A1-F6EECF244321}">
                <p14:modId xmlns:p14="http://schemas.microsoft.com/office/powerpoint/2010/main" val="559477707"/>
              </p:ext>
            </p:extLst>
          </p:nvPr>
        </p:nvGraphicFramePr>
        <p:xfrm>
          <a:off x="274320" y="4069080"/>
          <a:ext cx="3840480" cy="1074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Shape 25"/>
          <p:cNvSpPr/>
          <p:nvPr/>
        </p:nvSpPr>
        <p:spPr>
          <a:xfrm>
            <a:off x="4937760" y="3520440"/>
            <a:ext cx="3840480" cy="1508760"/>
          </a:xfrm>
          <a:prstGeom prst="rect">
            <a:avLst/>
          </a:prstGeom>
          <a:solidFill>
            <a:srgbClr val="E8F8F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12064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💡 Key Insight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5120640" y="39319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</a:rPr>
              <a:t>Australia alone</a:t>
            </a:r>
            <a:r>
              <a:rPr lang="en-US" sz="1000" dirty="0">
                <a:solidFill>
                  <a:srgbClr val="0A2342"/>
                </a:solidFill>
              </a:rPr>
              <a:t> accounts for 25% of all visits. Asia + Oceania = 57% of total tourism. Couples dominate at </a:t>
            </a:r>
            <a:r>
              <a:rPr lang="en-US" sz="1000" b="1" dirty="0">
                <a:solidFill>
                  <a:srgbClr val="0A2342"/>
                </a:solidFill>
              </a:rPr>
              <a:t>40.8%</a:t>
            </a:r>
            <a:r>
              <a:rPr lang="en-US" sz="1000" dirty="0">
                <a:solidFill>
                  <a:srgbClr val="0A2342"/>
                </a:solidFill>
              </a:rPr>
              <a:t> — marketing should target couple travel packages.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ATTRACTION PERFORMANCE — What Are Tourists Visiting?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Top Attractions by Visits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5156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777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Attraction Ratings — Best vs Worst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0" y="1097280"/>
            <a:ext cx="338328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1338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Mount Semeru Volcano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458200" y="1152144"/>
            <a:ext cx="320040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114300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4.70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486400" y="1481328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517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Waterbom Bali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458200" y="1536192"/>
            <a:ext cx="320040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152704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4.65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86400" y="1865376"/>
            <a:ext cx="338328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901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Bromo Natl. Park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8458200" y="1920240"/>
            <a:ext cx="320040" cy="20116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85632" y="19110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4.61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486400" y="2249424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577840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Jomblang Cave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458200" y="2304288"/>
            <a:ext cx="320040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485632" y="2295144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4.50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486400" y="2633472"/>
            <a:ext cx="338328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26700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Sacred Monkey Forest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458200" y="2688336"/>
            <a:ext cx="320040" cy="201168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485632" y="267919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4.27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5486400" y="3017520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30540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Seminyak Beach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8458200" y="3072384"/>
            <a:ext cx="320040" cy="201168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485632" y="3063240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3.80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486400" y="3401568"/>
            <a:ext cx="3383280" cy="32004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77840" y="34381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Yogyakarta Palace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458200" y="3456432"/>
            <a:ext cx="320040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485632" y="344728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3.54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5486400" y="3785616"/>
            <a:ext cx="33832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77840" y="3822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2342"/>
                </a:solidFill>
              </a:rPr>
              <a:t>Kuta Beach - Bali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8458200" y="3840480"/>
            <a:ext cx="320040" cy="20116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85632" y="383133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3.42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365760" y="41605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</a:rPr>
              <a:t>Visits by Attraction Type</a:t>
            </a:r>
            <a:endParaRPr lang="en-US" sz="1200" dirty="0"/>
          </a:p>
        </p:txBody>
      </p:sp>
      <p:graphicFrame>
        <p:nvGraphicFramePr>
          <p:cNvPr id="40" name="Chart 1"/>
          <p:cNvGraphicFramePr/>
          <p:nvPr/>
        </p:nvGraphicFramePr>
        <p:xfrm>
          <a:off x="274320" y="4434840"/>
          <a:ext cx="5029200" cy="640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🦠  COVID-19 IMPACT &amp; RECOVERY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2011680"/>
          </a:xfrm>
          <a:prstGeom prst="rect">
            <a:avLst/>
          </a:prstGeom>
          <a:solidFill>
            <a:srgbClr val="0D1F35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</a:rPr>
              <a:t>PRE-COVID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2013–2019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46,079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visits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97480" cy="2011680"/>
          </a:xfrm>
          <a:prstGeom prst="rect">
            <a:avLst/>
          </a:prstGeom>
          <a:solidFill>
            <a:srgbClr val="0D1F35"/>
          </a:solidFill>
          <a:ln w="254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COVID PERIOD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2020–2021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2103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564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visits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822960"/>
            <a:ext cx="2697480" cy="2011680"/>
          </a:xfrm>
          <a:prstGeom prst="rect">
            <a:avLst/>
          </a:prstGeom>
          <a:solidFill>
            <a:srgbClr val="0D1F35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72200" y="89611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14813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RECOVERY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2022 →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21031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247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A7C4"/>
                </a:solidFill>
              </a:rPr>
              <a:t>visits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Monthly Visit Trend — Showing Recovery Opportunity</a:t>
            </a:r>
            <a:endParaRPr lang="en-US" sz="120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274320" y="3246120"/>
          <a:ext cx="8595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⭐  RATINGS &amp; SATISFACTION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</a:rPr>
              <a:t>4.16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Overall Avg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CC71"/>
                </a:solidFill>
              </a:rPr>
              <a:t>45.2%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5-Star Ratings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79.1%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Positive (4-5★)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04672"/>
            <a:ext cx="20116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8686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</a:rPr>
              <a:t>83.2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Satisfaction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Rating Distribution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148840"/>
          <a:ext cx="41148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466344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</a:rPr>
              <a:t>Avg Rating by Attraction Type</a:t>
            </a:r>
            <a:endParaRPr lang="en-US" sz="13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4572000" y="2148840"/>
          <a:ext cx="42976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Shape 16"/>
          <p:cNvSpPr/>
          <p:nvPr/>
        </p:nvSpPr>
        <p:spPr>
          <a:xfrm>
            <a:off x="320040" y="4251960"/>
            <a:ext cx="8503920" cy="749808"/>
          </a:xfrm>
          <a:prstGeom prst="rect">
            <a:avLst/>
          </a:prstGeom>
          <a:solidFill>
            <a:srgbClr val="FFF8E7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02920" y="43159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2342"/>
                </a:solidFill>
              </a:rPr>
              <a:t>💡 Satisfaction Insight: COVID years (2020-21) showed highest ratings (4.54) because only highly motivated tourists visited — proving that quality-targeted marketing can improve satisfaction scores. Water Parks (4.65) and Nature (4.27) significantly outperform Beaches (3.85) and Historic Sites (3.54).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</a:rPr>
              <a:t>🎯  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57200" cy="12618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61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8961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💑 Target Couples &amp; Family Tourism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2618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40.8% couples + 28.7% families = 70% of all visits. Launch dedicated couple/family packages to capitalise on this dominant segment.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57200" cy="12618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2618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8961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🌏 Focus Marketing on Australia &amp; Asia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26187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Australia (25%), Asia (29.6%) drive majority of visitors. Invest in targeted digital campaigns in these high-yield origin markets.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457200" cy="126187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🏆 Diversify Beyond Monkey Forest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6517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1 attraction = 25% of visits is high risk. Promote Waterbom Bali (4.65★), Mt. Semeru (4.70★) and National Parks to spread visitor load.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194560"/>
            <a:ext cx="457200" cy="1261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26517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</a:rPr>
              <a:t>📅 Extend Peak Season (Jul–Oct)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65176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August peaks at 5,026 visits. Create off-season incentives for Feb (3,671) and Dec (4,542) to smooth demand and improve revenue stability.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84448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F1C40F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84448"/>
            <a:ext cx="457200" cy="1261872"/>
          </a:xfrm>
          <a:prstGeom prst="rect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0416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6758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C40F"/>
                </a:solidFill>
              </a:rPr>
              <a:t>⭐ Improve Underperforming Attractions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0416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Kuta Beach (3.42★) and Yogyakarta Palace (3.54★) drag satisfaction. Investment in quality upgrades could convert negative reviews to positive.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251960" cy="1261872"/>
          </a:xfrm>
          <a:prstGeom prst="rect">
            <a:avLst/>
          </a:prstGeom>
          <a:solidFill>
            <a:srgbClr val="0D1F3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584448"/>
            <a:ext cx="457200" cy="12618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04164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03520" y="36758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74C3C"/>
                </a:solidFill>
              </a:rPr>
              <a:t>🚀 Accelerate Post-COVID Recovery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404164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FC"/>
                </a:solidFill>
              </a:rPr>
              <a:t>2022 only saw 247 visits vs 5,913 pre-COVID. Aggressive recovery marketing — visa ease, partnerships, digital campaigns — is urgently needed.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🌍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Tourism Recovery Starts With Data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This dashboard enables stakeholders to make faster, smarter, data-driven decisions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2926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✦  52,930 visits analyzed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✦  4.16 avg satisfaction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✦  6 dashboard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</a:rPr>
              <a:t>✦  Actionable recovery strategy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773168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Thank You  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637</Words>
  <Application>Microsoft Office PowerPoint</Application>
  <PresentationFormat>On-screen Show 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Tourism Analysis Dashboard - Stakeholder Report</dc:title>
  <dc:subject>PptxGenJS Presentation</dc:subject>
  <dc:creator>PptxGenJS</dc:creator>
  <cp:lastModifiedBy>Shipra Mishra</cp:lastModifiedBy>
  <cp:revision>2</cp:revision>
  <dcterms:created xsi:type="dcterms:W3CDTF">2026-02-26T02:46:06Z</dcterms:created>
  <dcterms:modified xsi:type="dcterms:W3CDTF">2026-02-26T03:02:27Z</dcterms:modified>
</cp:coreProperties>
</file>